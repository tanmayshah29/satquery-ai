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3000" b="1">
                <a:solidFill>
                  <a:srgbClr val="0E1C36"/>
                </a:solidFill>
                <a:latin typeface="Calibri"/>
              </a:defRPr>
            </a:pPr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Problem Statement ID: </a:t>
            </a:r>
            <a:r>
              <a:rPr b="1" sz="1100">
                <a:solidFill>
                  <a:srgbClr val="E15A1E"/>
                </a:solidFill>
                <a:latin typeface="Calibri"/>
              </a:rPr>
              <a:t>SIH26167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Problem Statement Title: </a:t>
            </a:r>
            <a:r>
              <a:rPr b="1" sz="1100">
                <a:solidFill>
                  <a:srgbClr val="0E1C36"/>
                </a:solidFill>
                <a:latin typeface="Calibri"/>
              </a:rPr>
              <a:t>SatQuery AI - Interactive Vision-Language Assistant for Multimodal Remote Sensing Image Analysis through Text Queries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Theme &amp; Category: </a:t>
            </a:r>
            <a:r>
              <a:rPr b="0" sz="1100">
                <a:solidFill>
                  <a:srgbClr val="0E1C36"/>
                </a:solidFill>
                <a:latin typeface="Calibri"/>
              </a:rPr>
              <a:t>Space Technology | Category: Software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Target Organization: </a:t>
            </a:r>
            <a:r>
              <a:rPr b="1" sz="1100">
                <a:solidFill>
                  <a:srgbClr val="0E1C36"/>
                </a:solidFill>
                <a:latin typeface="Calibri"/>
              </a:rPr>
              <a:t>Indian Space Research Organisation (ISRO) — Space Applications Centre (SAC)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Team Name: </a:t>
            </a:r>
            <a:r>
              <a:rPr b="1" sz="1100">
                <a:solidFill>
                  <a:srgbClr val="008CB4"/>
                </a:solidFill>
                <a:latin typeface="Calibri"/>
              </a:rPr>
              <a:t>Divya Drishti (दिव्य दृष्टि)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Institute Name: </a:t>
            </a:r>
            <a:r>
              <a:rPr b="0" sz="1100">
                <a:solidFill>
                  <a:srgbClr val="0E1C36"/>
                </a:solidFill>
                <a:latin typeface="Calibri"/>
              </a:rPr>
              <a:t>L.D. College of Engineering, Ahmedabad, Gujarat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Team Leader: </a:t>
            </a:r>
            <a:r>
              <a:rPr b="1" sz="1100">
                <a:solidFill>
                  <a:srgbClr val="0E1C36"/>
                </a:solidFill>
                <a:latin typeface="Calibri"/>
              </a:rPr>
              <a:t>Tanmay Shah (Enrollment: 230020107079)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E1C36"/>
                </a:solidFill>
                <a:latin typeface="Calibri"/>
              </a:rPr>
              <a:t>Team Members: </a:t>
            </a:r>
            <a:r>
              <a:rPr b="0" sz="1100">
                <a:solidFill>
                  <a:srgbClr val="1E293B"/>
                </a:solidFill>
                <a:latin typeface="Calibri"/>
              </a:rPr>
              <a:t>Vadodaria Dhrumil (230020107088), Karan Vaghela (230020107090), Pushti Doshi (240023107030), Kunj Vachharajani (230020107087), Krish Shah (230020107077)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1900" b="1">
                <a:solidFill>
                  <a:srgbClr val="0E1C36"/>
                </a:solidFill>
                <a:latin typeface="Calibri"/>
              </a:defRPr>
            </a:pPr>
            <a:r>
              <a:t>IDEA TITLE: SatQuery AI — Agentic Multimodal Remote Sensing Studio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@SIH Idea submission- Template | Divya Drishti | Slide 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8CB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Divya Drishti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2" name="Picture 15361" descr="diagram_problem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6035040" cy="3233057"/>
          </a:xfrm>
          <a:prstGeom prst="rect">
            <a:avLst/>
          </a:prstGeom>
        </p:spPr>
      </p:pic>
      <p:pic>
        <p:nvPicPr>
          <p:cNvPr id="15363" name="Picture 15362" descr="Landing-p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234440"/>
            <a:ext cx="4846320" cy="2737746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766560" y="51663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8CB4"/>
                </a:solidFill>
              </a:rPr>
              <a:t>Live Working Prototype: SatQuery AI 3D Earth Mission Console &amp; ISRO SAC HUD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E1C36"/>
                </a:solidFill>
                <a:latin typeface="Calibri"/>
              </a:defRPr>
            </a:pPr>
            <a:r>
              <a:t>TECHNICAL APPROACH &amp; SYSTEM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@SIH Idea submission- Template | Divya Drishti | Slide 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8CB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Divya Drishti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diagra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6583680" cy="3526971"/>
          </a:xfrm>
          <a:prstGeom prst="rect">
            <a:avLst/>
          </a:prstGeom>
        </p:spPr>
      </p:pic>
      <p:pic>
        <p:nvPicPr>
          <p:cNvPr id="17411" name="Picture 17410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34440"/>
            <a:ext cx="4297680" cy="244554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315200" y="39319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CB4"/>
                </a:solidFill>
              </a:rPr>
              <a:t>Operational Studio: MapLibre GL WebGL Engine, Swipe Slider &amp; Multi-Sensor Layers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315200" y="4526280"/>
            <a:ext cx="4297680" cy="160020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b="1" sz="1050">
                <a:solidFill>
                  <a:srgbClr val="0E1C36"/>
                </a:solidFill>
              </a:defRPr>
            </a:pPr>
            <a:r>
              <a:t>PRODUCTION TECH STACK &amp; FOUNDATION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900">
                <a:solidFill>
                  <a:srgbClr val="0E1C36"/>
                </a:solidFill>
                <a:latin typeface="Calibri"/>
              </a:rPr>
              <a:t>• Frontend: </a:t>
            </a:r>
            <a:r>
              <a:rPr b="0" sz="900">
                <a:solidFill>
                  <a:srgbClr val="1E293B"/>
                </a:solidFill>
                <a:latin typeface="Calibri"/>
              </a:rPr>
              <a:t>Next.js 15, MapLibre GL JS, MapLibre Compare, Tailwind CSS, Zustand.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900">
                <a:solidFill>
                  <a:srgbClr val="0E1C36"/>
                </a:solidFill>
                <a:latin typeface="Calibri"/>
              </a:rPr>
              <a:t>• Backend / GIS: </a:t>
            </a:r>
            <a:r>
              <a:rPr b="0" sz="900">
                <a:solidFill>
                  <a:srgbClr val="1E293B"/>
                </a:solidFill>
                <a:latin typeface="Calibri"/>
              </a:rPr>
              <a:t>Python 3.12, FastAPI, rasterio (windowed reads), GDAL, pyproj, shapely.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900">
                <a:solidFill>
                  <a:srgbClr val="0E1C36"/>
                </a:solidFill>
                <a:latin typeface="Calibri"/>
              </a:rPr>
              <a:t>• AI / Inference: </a:t>
            </a:r>
            <a:r>
              <a:rPr b="0" sz="900">
                <a:solidFill>
                  <a:srgbClr val="1E293B"/>
                </a:solidFill>
                <a:latin typeface="Calibri"/>
              </a:rPr>
              <a:t>RemoteCLIP (ViT-B/32), MobileSAM, ChangeFormer-v2, ONNX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E1C36"/>
                </a:solidFill>
                <a:latin typeface="Calibri"/>
              </a:defRPr>
            </a:pPr>
            <a:r>
              <a:t>FEASIBILITY AND VIABILITY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>
                <a:solidFill>
                  <a:srgbClr val="64748B"/>
                </a:solidFill>
                <a:latin typeface="Calibri"/>
              </a:defRPr>
            </a:pPr>
            <a:r>
              <a:t>@SIH Idea submission- Template | Divya Drishti | Slide 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8CB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Divya Drishti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diagram_risk_miti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6217920" cy="3331029"/>
          </a:xfrm>
          <a:prstGeom prst="rect">
            <a:avLst/>
          </a:prstGeom>
        </p:spPr>
      </p:pic>
      <p:pic>
        <p:nvPicPr>
          <p:cNvPr id="17411" name="Picture 17410" descr="breafing-downl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34440"/>
            <a:ext cx="4663440" cy="3893331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949440" y="5166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8CB4"/>
                </a:solidFill>
              </a:rPr>
              <a:t>Verifiable Intelligence: Tactical Mission Briefing, 96.8% Calibrated Confidence, &amp; One-Click PDF/GeoJSON Export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E1C36"/>
                </a:solidFill>
                <a:latin typeface="Calibri"/>
              </a:defRPr>
            </a:pPr>
            <a:r>
              <a:t>IMPACT AND BENEFITS — STRATEGIC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>
                <a:solidFill>
                  <a:srgbClr val="64748B"/>
                </a:solidFill>
                <a:latin typeface="Calibri"/>
              </a:defRPr>
            </a:pPr>
            <a:r>
              <a:t>@SIH Idea submission- Template | Divya Drishti | Slide 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8CB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Divya Drishti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diagram_impact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11064240" cy="592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1900" b="1">
                <a:solidFill>
                  <a:srgbClr val="0E1C36"/>
                </a:solidFill>
                <a:latin typeface="Calibri"/>
              </a:defRPr>
            </a:pPr>
            <a:r>
              <a:t>RESEARCH, DATASETS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>
                <a:solidFill>
                  <a:srgbClr val="64748B"/>
                </a:solidFill>
                <a:latin typeface="Calibri"/>
              </a:defRPr>
            </a:pPr>
            <a:r>
              <a:t>@SIH Idea submission- Template | Divya Drishti | Slide 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8CB4"/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Divya Drishti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548640" y="1234440"/>
            <a:ext cx="5394960" cy="4892040"/>
          </a:xfrm>
          <a:prstGeom prst="rect">
            <a:avLst/>
          </a:prstGeom>
          <a:solidFill>
            <a:srgbClr val="F8FA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200"/>
              </a:spcAft>
              <a:defRPr b="1" sz="1150">
                <a:solidFill>
                  <a:srgbClr val="0E1C36"/>
                </a:solidFill>
              </a:defRPr>
            </a:pPr>
            <a:r>
              <a:t>1. Prescribed Benchmark Datasets &amp; Pretraining Corpus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BigEarthNet.txt (arXiv:2603.29630): </a:t>
            </a:r>
            <a:r>
              <a:rPr b="0" sz="950">
                <a:solidFill>
                  <a:srgbClr val="1E293B"/>
                </a:solidFill>
                <a:latin typeface="Calibri"/>
              </a:rPr>
              <a:t>Primary adaptation corpus: 590k co-registered Sentinel-1 SAR &amp; Sentinel-2 optical image-text pairs.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VRSBench (Yang et al., 2024): </a:t>
            </a:r>
            <a:r>
              <a:rPr b="0" sz="950">
                <a:solidFill>
                  <a:srgbClr val="1E293B"/>
                </a:solidFill>
                <a:latin typeface="Calibri"/>
              </a:rPr>
              <a:t>High-resolution remote sensing dataset for VQA, visual grounding &amp; detailed scene captioning.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RSVQA (Lobry et al., IEEE TGRS 2020): </a:t>
            </a:r>
            <a:r>
              <a:rPr b="0" sz="950">
                <a:solidFill>
                  <a:srgbClr val="1E293B"/>
                </a:solidFill>
                <a:latin typeface="Calibri"/>
              </a:rPr>
              <a:t>Benchmark visual question answering dataset on high and low resolution satellite imagery.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CDVQA (Yuan et al., 2023): </a:t>
            </a:r>
            <a:r>
              <a:rPr b="0" sz="950">
                <a:solidFill>
                  <a:srgbClr val="1E293B"/>
                </a:solidFill>
                <a:latin typeface="Calibri"/>
              </a:rPr>
              <a:t>Multitemporal change-based remote-sensing visual question answering dataset.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ISRO / SAC Evaluation Set: </a:t>
            </a:r>
            <a:r>
              <a:rPr b="0" sz="950">
                <a:solidFill>
                  <a:srgbClr val="1E293B"/>
                </a:solidFill>
                <a:latin typeface="Calibri"/>
              </a:rPr>
              <a:t>Pre-georeferenced &amp; co-registered Cartosat-2S optical + RISAT-1A SAR pairs for final evaluation.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50">
                <a:solidFill>
                  <a:srgbClr val="0E1C36"/>
                </a:solidFill>
                <a:latin typeface="Calibri"/>
              </a:rPr>
              <a:t>2. Earth Observation Platforms Supported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ISRO Cartosat-2S / 3: </a:t>
            </a:r>
            <a:r>
              <a:rPr b="0" sz="950">
                <a:solidFill>
                  <a:srgbClr val="1E293B"/>
                </a:solidFill>
                <a:latin typeface="Calibri"/>
              </a:rPr>
              <a:t>Sub-meter optical panchromatic &amp; multispectral sensors for tactical infrastructure mapping.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ISRO RISAT-1A / EOS-04: </a:t>
            </a:r>
            <a:r>
              <a:rPr b="0" sz="950">
                <a:solidFill>
                  <a:srgbClr val="1E293B"/>
                </a:solidFill>
                <a:latin typeface="Calibri"/>
              </a:rPr>
              <a:t>C-band active SAR radar for all-weather day-and-night surface backscatter analysis.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ESA Copernicus Sentinel-1 &amp; 2: </a:t>
            </a:r>
            <a:r>
              <a:rPr b="0" sz="950">
                <a:solidFill>
                  <a:srgbClr val="1E293B"/>
                </a:solidFill>
                <a:latin typeface="Calibri"/>
              </a:rPr>
              <a:t>Open global Sentinel-1 (C-SAR) and Sentinel-2 (MSI 12-band Level-2A) constellations.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6217920" y="1234440"/>
            <a:ext cx="5303520" cy="4892040"/>
          </a:xfrm>
          <a:prstGeom prst="rect">
            <a:avLst/>
          </a:prstGeom>
          <a:solidFill>
            <a:srgbClr val="F8FA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200"/>
              </a:spcAft>
              <a:defRPr b="1" sz="1150">
                <a:solidFill>
                  <a:srgbClr val="0E1C36"/>
                </a:solidFill>
              </a:defRPr>
            </a:pPr>
            <a:r>
              <a:t>3. Foundational Research Literature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RemoteCLIP (IEEE TGRS 2024): </a:t>
            </a:r>
            <a:r>
              <a:rPr b="0" sz="950">
                <a:solidFill>
                  <a:srgbClr val="1E293B"/>
                </a:solidFill>
                <a:latin typeface="Calibri"/>
              </a:rPr>
              <a:t>Liu et al., 'RemoteCLIP: A Vision-Language Foundation Model for Remote Sensing'.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ChangeFormer (IEEE JSTARS 2022): </a:t>
            </a:r>
            <a:r>
              <a:rPr b="0" sz="950">
                <a:solidFill>
                  <a:srgbClr val="1E293B"/>
                </a:solidFill>
                <a:latin typeface="Calibri"/>
              </a:rPr>
              <a:t>Bandara et al., 'ChangeFormer: A Transformer-Based Architecture for Remote Sensing Change Detection'.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MobileSAM (arXiv:2306.14289): </a:t>
            </a:r>
            <a:r>
              <a:rPr b="0" sz="950">
                <a:solidFill>
                  <a:srgbClr val="1E293B"/>
                </a:solidFill>
                <a:latin typeface="Calibri"/>
              </a:rPr>
              <a:t>Zhang et al., 'Faster Segment Anything: Towards Lightweight SAM for Real-Time Applications'.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BigEarthNet-S2 (IEEE IGARSS): </a:t>
            </a:r>
            <a:r>
              <a:rPr b="0" sz="950">
                <a:solidFill>
                  <a:srgbClr val="1E293B"/>
                </a:solidFill>
                <a:latin typeface="Calibri"/>
              </a:rPr>
              <a:t>Sumbul et al., 'BigEarthNet: A Large-Scale Benchmark Archive for Remote Sensing Image Understanding'.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50">
                <a:solidFill>
                  <a:srgbClr val="0E1C36"/>
                </a:solidFill>
                <a:latin typeface="Calibri"/>
              </a:rPr>
              <a:t>4. System Repository &amp; Deliverables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GitHub Repository: </a:t>
            </a:r>
            <a:r>
              <a:rPr b="0" sz="950">
                <a:solidFill>
                  <a:srgbClr val="1E293B"/>
                </a:solidFill>
                <a:latin typeface="Calibri"/>
              </a:rPr>
              <a:t>https://github.com/TanmayShah29/SATQuery-AI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Prototype Deployment: </a:t>
            </a:r>
            <a:r>
              <a:rPr b="0" sz="950">
                <a:solidFill>
                  <a:srgbClr val="1E293B"/>
                </a:solidFill>
                <a:latin typeface="Calibri"/>
              </a:rPr>
              <a:t>Interactive GUI / Web Application running locally with full offline scenario caching.</a:t>
            </a:r>
          </a:p>
          <a:p>
            <a:pPr>
              <a:spcBef>
                <a:spcPts val="100"/>
              </a:spcBef>
              <a:spcAft>
                <a:spcPts val="250"/>
              </a:spcAft>
            </a:pPr>
            <a:r>
              <a:rPr b="1" sz="950">
                <a:solidFill>
                  <a:srgbClr val="0E1C36"/>
                </a:solidFill>
                <a:latin typeface="Calibri"/>
              </a:rPr>
              <a:t>• Compliant Deliverables: </a:t>
            </a:r>
            <a:r>
              <a:rPr b="0" sz="950">
                <a:solidFill>
                  <a:srgbClr val="1E293B"/>
                </a:solidFill>
                <a:latin typeface="Calibri"/>
              </a:rPr>
              <a:t>Complete source code, adapted model weights, test suite &amp; auditable demonstration script.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
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embeddedFontLst>
    <p:embeddedFont>
      <p:font typeface="Garamond" panose="02020404030301010803" pitchFamily="18" charset="0"/>
      <p:regular r:id="rId10"/>
      <p:bold r:id="rId11"/>
      <p:italic r:id="rId12"/>
    </p:embeddedFont>
    <p:embeddedFont>
      <p:font typeface="Oswald" panose="020F0502020204030204" pitchFamily="2" charset="0"/>
      <p:regular r:id="rId13"/>
      <p:bold r:id="rId14"/>
    </p:embeddedFont>
    <p:embeddedFont>
      <p:font typeface="Oswald Medium" panose="020F0502020204030204" pitchFamily="2" charset="0"/>
      <p:regular r:id="rId15"/>
      <p:bold r:id="rId16"/>
    </p:embeddedFont>
    <p:embeddedFont>
      <p:font typeface="Times" panose="02020603050405020304" pitchFamily="18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13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2" name="Google Shape;1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815026a9e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7" name="Google Shape;227;g3815026a9e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3815026a9ea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181efc9ca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38181efc9c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70" name="Google Shape;2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ctrTitle"/>
          </p:nvPr>
        </p:nvSpPr>
        <p:spPr>
          <a:xfrm>
            <a:off x="457200" y="1420283"/>
            <a:ext cx="5181600" cy="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481542" y="2937933"/>
            <a:ext cx="51816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1"/>
          </p:nvPr>
        </p:nvSpPr>
        <p:spPr>
          <a:xfrm>
            <a:off x="481542" y="1937809"/>
            <a:ext cx="51816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26925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marL="914400" lvl="1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2"/>
          </p:nvPr>
        </p:nvSpPr>
        <p:spPr>
          <a:xfrm>
            <a:off x="3098800" y="1066800"/>
            <a:ext cx="26925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marL="914400" lvl="1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304800" y="1023409"/>
            <a:ext cx="26934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2"/>
          </p:nvPr>
        </p:nvSpPr>
        <p:spPr>
          <a:xfrm>
            <a:off x="304800" y="1449917"/>
            <a:ext cx="2693400" cy="26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marL="2286000" lvl="4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marL="3200400" lvl="6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marL="3657600" lvl="7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marL="4114800" lvl="8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3"/>
          </p:nvPr>
        </p:nvSpPr>
        <p:spPr>
          <a:xfrm>
            <a:off x="3096683" y="1023409"/>
            <a:ext cx="26946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4"/>
          </p:nvPr>
        </p:nvSpPr>
        <p:spPr>
          <a:xfrm>
            <a:off x="3096683" y="1449917"/>
            <a:ext cx="2694600" cy="26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marL="2286000" lvl="4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marL="3200400" lvl="6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marL="3657600" lvl="7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marL="4114800" lvl="8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304800" y="182033"/>
            <a:ext cx="20055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sz="13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2383367" y="182033"/>
            <a:ext cx="3407700" cy="39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marL="2286000" lvl="4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marL="2743200" lvl="5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marL="3200400" lvl="6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marL="3657600" lvl="7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marL="4114800" lvl="8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2"/>
          </p:nvPr>
        </p:nvSpPr>
        <p:spPr>
          <a:xfrm>
            <a:off x="304800" y="956733"/>
            <a:ext cx="2005500" cy="3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1194859" y="3200400"/>
            <a:ext cx="36576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sz="13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>
            <a:spLocks noGrp="1"/>
          </p:cNvSpPr>
          <p:nvPr>
            <p:ph type="pic" idx="2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1194859" y="3578225"/>
            <a:ext cx="36576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 rot="5400000">
            <a:off x="1539300" y="-167700"/>
            <a:ext cx="3017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 rot="5400000">
            <a:off x="3154950" y="1447742"/>
            <a:ext cx="3900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 rot="5400000">
            <a:off x="361000" y="126992"/>
            <a:ext cx="3900900" cy="4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rmAutofit/>
          </a:bodyPr>
          <a:lstStyle>
            <a:lvl1pPr marL="457200" marR="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–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11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9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9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youtu.be/-iJX43oWRXY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-iJX43oWRXY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hyperlink" Target="https://youtu.be/_Ln-5-LXG-w" TargetMode="External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riolis.eu.org/" TargetMode="External"/><Relationship Id="rId13" Type="http://schemas.openxmlformats.org/officeDocument/2006/relationships/hyperlink" Target="https://www.langchain.com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argo.ucsd.edu/" TargetMode="External"/><Relationship Id="rId12" Type="http://schemas.openxmlformats.org/officeDocument/2006/relationships/hyperlink" Target="https://www.trychroma.com" TargetMode="External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6" Type="http://schemas.openxmlformats.org/officeDocument/2006/relationships/hyperlink" Target="https://dash.plotly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drive/folders/1wPG_MvJKRtRW4MLE1Y2JtUj7BjoNSrZ8?usp=drive_link" TargetMode="External"/><Relationship Id="rId11" Type="http://schemas.openxmlformats.org/officeDocument/2006/relationships/hyperlink" Target="https://faiss.ai/" TargetMode="External"/><Relationship Id="rId5" Type="http://schemas.openxmlformats.org/officeDocument/2006/relationships/hyperlink" Target="https://youtu.be/_Ln-5-LXG-w" TargetMode="External"/><Relationship Id="rId15" Type="http://schemas.openxmlformats.org/officeDocument/2006/relationships/hyperlink" Target="https://streamlit.io/" TargetMode="External"/><Relationship Id="rId10" Type="http://schemas.openxmlformats.org/officeDocument/2006/relationships/hyperlink" Target="https://www.sqlite.org/docs.html" TargetMode="External"/><Relationship Id="rId4" Type="http://schemas.openxmlformats.org/officeDocument/2006/relationships/hyperlink" Target="https://youtu.be/-iJX43oWRXY" TargetMode="External"/><Relationship Id="rId9" Type="http://schemas.openxmlformats.org/officeDocument/2006/relationships/hyperlink" Target="https://docs.xarray.dev/" TargetMode="External"/><Relationship Id="rId14" Type="http://schemas.openxmlformats.org/officeDocument/2006/relationships/hyperlink" Target="https://ollama.a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5"/>
          <p:cNvSpPr/>
          <p:nvPr/>
        </p:nvSpPr>
        <p:spPr>
          <a:xfrm>
            <a:off x="7117280" y="1311896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25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8759900" y="3016250"/>
            <a:ext cx="2420649" cy="258897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5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331275" y="1236775"/>
            <a:ext cx="6599400" cy="60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667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</a:t>
            </a:r>
            <a:r>
              <a:rPr lang="en-US" sz="2100" b="1" dirty="0">
                <a:solidFill>
                  <a:schemeClr val="dk1"/>
                </a:solidFill>
              </a:rPr>
              <a:t> </a:t>
            </a:r>
            <a:r>
              <a:rPr lang="en-US" sz="21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25040</a:t>
            </a:r>
            <a:endParaRPr sz="21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66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 </a:t>
            </a:r>
            <a:r>
              <a:rPr lang="en-US" sz="21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FloatChat</a:t>
            </a:r>
            <a:r>
              <a:rPr lang="en-US" sz="21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AI-Powered Conversational Interface for ARGO Ocean Data Discovery and Visualization</a:t>
            </a:r>
            <a:endParaRPr sz="21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667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 - </a:t>
            </a:r>
            <a:r>
              <a:rPr lang="en-US" sz="21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Miscellaneous</a:t>
            </a:r>
            <a:endParaRPr sz="21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667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 - Software</a:t>
            </a:r>
            <a:endParaRPr sz="1100" dirty="0"/>
          </a:p>
          <a:p>
            <a:pPr marL="285750" marR="0" lvl="0" indent="-2667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 -</a:t>
            </a:r>
            <a:endParaRPr sz="1100" dirty="0"/>
          </a:p>
          <a:p>
            <a:pPr marL="285750" marR="0" lvl="0" indent="-2667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- </a:t>
            </a:r>
            <a:r>
              <a:rPr lang="en-US" sz="2100" b="1" dirty="0">
                <a:solidFill>
                  <a:schemeClr val="dk1"/>
                </a:solidFill>
              </a:rPr>
              <a:t>Howlers</a:t>
            </a:r>
          </a:p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1700" dirty="0">
                <a:solidFill>
                  <a:schemeClr val="dk1"/>
                </a:solidFill>
              </a:rPr>
              <a:t>PS Approach Explainer. YouTube video. Available at:</a:t>
            </a:r>
            <a:r>
              <a:rPr lang="en-US" sz="1700" dirty="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700" u="sng" dirty="0">
                <a:solidFill>
                  <a:schemeClr val="hlink"/>
                </a:solidFill>
                <a:hlinkClick r:id="rId4"/>
              </a:rPr>
              <a:t>https://youtu.be/-iJX43oWRXY</a:t>
            </a:r>
            <a:br>
              <a:rPr lang="en-US" sz="1700" u="sng" dirty="0">
                <a:solidFill>
                  <a:schemeClr val="hlink"/>
                </a:solidFill>
                <a:hlinkClick r:id="rId4"/>
              </a:rPr>
            </a:br>
            <a:endParaRPr lang="en-US" sz="2100" b="1" dirty="0">
              <a:solidFill>
                <a:schemeClr val="dk1"/>
              </a:solidFill>
            </a:endParaRPr>
          </a:p>
          <a:p>
            <a:pPr marL="4572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chemeClr val="dk1"/>
              </a:solidFill>
            </a:endParaRPr>
          </a:p>
        </p:txBody>
      </p:sp>
      <p:pic>
        <p:nvPicPr>
          <p:cNvPr id="168" name="Google Shape;168;p25" descr="https://www.sih.gov.in/img1/SIH-Logo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41366" y="62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/>
          <p:cNvSpPr txBox="1"/>
          <p:nvPr/>
        </p:nvSpPr>
        <p:spPr>
          <a:xfrm>
            <a:off x="1961147" y="4805469"/>
            <a:ext cx="2268496" cy="500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chemeClr val="dk1"/>
                </a:solidFill>
              </a:rPr>
              <a:t>55937</a:t>
            </a:r>
            <a:endParaRPr sz="27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/>
          <p:nvPr/>
        </p:nvSpPr>
        <p:spPr>
          <a:xfrm>
            <a:off x="0" y="6447450"/>
            <a:ext cx="12192000" cy="4107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6"/>
          <p:cNvSpPr txBox="1">
            <a:spLocks noGrp="1"/>
          </p:cNvSpPr>
          <p:nvPr>
            <p:ph type="title"/>
          </p:nvPr>
        </p:nvSpPr>
        <p:spPr>
          <a:xfrm>
            <a:off x="239215" y="-374073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latin typeface="Arial"/>
                <a:ea typeface="Arial"/>
                <a:cs typeface="Arial"/>
                <a:sym typeface="Arial"/>
              </a:rPr>
              <a:t>FloatChat — Conversational Argo Data Explorer</a:t>
            </a:r>
            <a:endParaRPr sz="27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Arial"/>
                <a:ea typeface="Arial"/>
                <a:cs typeface="Arial"/>
                <a:sym typeface="Arial"/>
              </a:rPr>
              <a:t>Natural-language queries + verifiable visualizations for Argo floats</a:t>
            </a:r>
            <a:br>
              <a:rPr lang="en-US" sz="3700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500" b="1"/>
          </a:p>
        </p:txBody>
      </p:sp>
      <p:sp>
        <p:nvSpPr>
          <p:cNvPr id="177" name="Google Shape;177;p26"/>
          <p:cNvSpPr txBox="1"/>
          <p:nvPr/>
        </p:nvSpPr>
        <p:spPr>
          <a:xfrm>
            <a:off x="0" y="768925"/>
            <a:ext cx="11916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❖"/>
            </a:pPr>
            <a:r>
              <a:rPr lang="en-US" sz="2800" b="1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Solution:-</a:t>
            </a:r>
            <a:r>
              <a:rPr lang="en-US" sz="2800" b="1" u="sng">
                <a:solidFill>
                  <a:schemeClr val="hlink"/>
                </a:solidFill>
                <a:hlinkClick r:id="rId3"/>
              </a:rPr>
              <a:t>(Approach) </a:t>
            </a:r>
            <a:endParaRPr sz="2100" b="1">
              <a:solidFill>
                <a:schemeClr val="dk1"/>
              </a:solidFill>
            </a:endParaRPr>
          </a:p>
          <a:p>
            <a:pPr marL="9144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 u="sng">
              <a:solidFill>
                <a:schemeClr val="dk2"/>
              </a:solidFill>
            </a:endParaRPr>
          </a:p>
          <a:p>
            <a:pPr marL="4572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6"/>
          <p:cNvSpPr txBox="1">
            <a:spLocks noGrp="1"/>
          </p:cNvSpPr>
          <p:nvPr>
            <p:ph type="sldNum" idx="12"/>
          </p:nvPr>
        </p:nvSpPr>
        <p:spPr>
          <a:xfrm>
            <a:off x="8737600" y="6356349"/>
            <a:ext cx="31785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>
                <a:solidFill>
                  <a:schemeClr val="lt1"/>
                </a:solidFill>
              </a:rPr>
              <a:t>2</a:t>
            </a:fld>
            <a:endParaRPr sz="1400" b="1">
              <a:solidFill>
                <a:schemeClr val="lt1"/>
              </a:solidFill>
            </a:endParaRPr>
          </a:p>
        </p:txBody>
      </p:sp>
      <p:sp>
        <p:nvSpPr>
          <p:cNvPr id="179" name="Google Shape;179;p26" descr="Your startup LOGO"/>
          <p:cNvSpPr/>
          <p:nvPr/>
        </p:nvSpPr>
        <p:spPr>
          <a:xfrm>
            <a:off x="87925" y="57100"/>
            <a:ext cx="1609800" cy="6267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HOWLERS</a:t>
            </a:r>
            <a:endParaRPr/>
          </a:p>
        </p:txBody>
      </p:sp>
      <p:pic>
        <p:nvPicPr>
          <p:cNvPr id="180" name="Google Shape;180;p26" descr="https://www.sih.gov.in/img1/SIH-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8375" y="0"/>
            <a:ext cx="1873625" cy="95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6" title="WhatsApp Image 2025-09-23 at 00.04.33_6507030b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4950" y="1217950"/>
            <a:ext cx="2728672" cy="5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/>
          <p:nvPr/>
        </p:nvSpPr>
        <p:spPr>
          <a:xfrm>
            <a:off x="31225" y="1217950"/>
            <a:ext cx="5583900" cy="5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300" b="1">
                <a:solidFill>
                  <a:schemeClr val="dk1"/>
                </a:solidFill>
              </a:rPr>
              <a:t>Unlocks Argo / INCOIS NetCDF</a:t>
            </a:r>
            <a:br>
              <a:rPr lang="en-US" sz="1200" b="1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Ingests and normalizes NetCDF files into searchable, tabular records.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Example: query salinity by depth/time without writing NetCDF code.</a:t>
            </a:r>
            <a:br>
              <a:rPr lang="en-US" sz="1100">
                <a:solidFill>
                  <a:srgbClr val="FF0000"/>
                </a:solidFill>
              </a:rPr>
            </a:br>
            <a:endParaRPr sz="1100">
              <a:solidFill>
                <a:srgbClr val="FF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300" b="1">
                <a:solidFill>
                  <a:schemeClr val="dk1"/>
                </a:solidFill>
              </a:rPr>
              <a:t>Natural-language queries + visuals</a:t>
            </a:r>
            <a:br>
              <a:rPr lang="en-US" sz="1200" b="1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Translate plain-English questions into filters and instant plots (maps, profiles, time-series).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Result: get a ready visualization in seconds instead of scripting.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300" b="1">
                <a:solidFill>
                  <a:schemeClr val="dk1"/>
                </a:solidFill>
              </a:rPr>
              <a:t>Hybrid storage: SQL + vector index</a:t>
            </a:r>
            <a:br>
              <a:rPr lang="en-US" sz="1200" b="1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Numeric data served from Postgres; </a:t>
            </a:r>
            <a:r>
              <a:rPr lang="en-US" sz="1200" b="1">
                <a:solidFill>
                  <a:schemeClr val="dk1"/>
                </a:solidFill>
              </a:rPr>
              <a:t>semantic</a:t>
            </a:r>
            <a:r>
              <a:rPr lang="en-US" sz="1200">
                <a:solidFill>
                  <a:schemeClr val="dk1"/>
                </a:solidFill>
              </a:rPr>
              <a:t> metadata in a vector store.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Benefit: precise calculations via SQL and contextual search via vectors</a:t>
            </a:r>
            <a:r>
              <a:rPr lang="en-US" sz="110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.</a:t>
            </a:r>
            <a:br>
              <a:rPr lang="en-US" sz="1100">
                <a:solidFill>
                  <a:srgbClr val="FF0000"/>
                </a:solidFill>
              </a:rPr>
            </a:br>
            <a:endParaRPr sz="1100">
              <a:solidFill>
                <a:srgbClr val="FF00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300" b="1">
                <a:solidFill>
                  <a:schemeClr val="dk1"/>
                </a:solidFill>
              </a:rPr>
              <a:t>Empowers non-experts</a:t>
            </a:r>
            <a:br>
              <a:rPr lang="en-US" sz="1200" b="1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Policymakers, students and scientists can explore data with </a:t>
            </a:r>
            <a:r>
              <a:rPr lang="en-US" sz="1200" b="1">
                <a:solidFill>
                  <a:schemeClr val="dk1"/>
                </a:solidFill>
              </a:rPr>
              <a:t>no coding required.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Outcome: faster insights and broader use of ocean datasets.</a:t>
            </a:r>
            <a:br>
              <a:rPr lang="en-US" sz="120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200">
              <a:solidFill>
                <a:srgbClr val="FF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300" b="1">
                <a:solidFill>
                  <a:schemeClr val="dk1"/>
                </a:solidFill>
              </a:rPr>
              <a:t>Verifiable results with provenance</a:t>
            </a:r>
            <a:br>
              <a:rPr lang="en-US" sz="1200" b="1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RAG+LLM returns synthesized answers plus the </a:t>
            </a:r>
            <a:r>
              <a:rPr lang="en-US" sz="1200" b="1">
                <a:solidFill>
                  <a:schemeClr val="dk1"/>
                </a:solidFill>
              </a:rPr>
              <a:t>exact SQL/query</a:t>
            </a:r>
            <a:r>
              <a:rPr lang="en-US" sz="1200">
                <a:solidFill>
                  <a:schemeClr val="dk1"/>
                </a:solidFill>
              </a:rPr>
              <a:t> and source file IDs.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Trust: every result links back to the original Argo files and query used.</a:t>
            </a:r>
            <a:br>
              <a:rPr lang="en-US" sz="120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200">
              <a:solidFill>
                <a:srgbClr val="FF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8269288" y="3946688"/>
            <a:ext cx="3483000" cy="23670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184" name="Google Shape;184;p26"/>
          <p:cNvCxnSpPr/>
          <p:nvPr/>
        </p:nvCxnSpPr>
        <p:spPr>
          <a:xfrm>
            <a:off x="7816025" y="1068450"/>
            <a:ext cx="27600" cy="5231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5" name="Google Shape;185;p26" title="Screenshot 2025-09-23 12261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69300" y="1462900"/>
            <a:ext cx="3397724" cy="19662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6"/>
          <p:cNvSpPr/>
          <p:nvPr/>
        </p:nvSpPr>
        <p:spPr>
          <a:xfrm>
            <a:off x="8226638" y="1414163"/>
            <a:ext cx="3483000" cy="2063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8226650" y="1007238"/>
            <a:ext cx="247050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Chat Interface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8251700" y="3484675"/>
            <a:ext cx="3432900" cy="3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Plotting using Cesium.js</a:t>
            </a:r>
            <a:endParaRPr sz="2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9" name="Google Shape;189;p26" title="Screenshot 2025-09-23 14520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11937" y="4000266"/>
            <a:ext cx="3397724" cy="2259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/>
          <p:nvPr/>
        </p:nvSpPr>
        <p:spPr>
          <a:xfrm>
            <a:off x="0" y="6653725"/>
            <a:ext cx="12192000" cy="2055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7"/>
          <p:cNvSpPr txBox="1">
            <a:spLocks noGrp="1"/>
          </p:cNvSpPr>
          <p:nvPr>
            <p:ph type="title"/>
          </p:nvPr>
        </p:nvSpPr>
        <p:spPr>
          <a:xfrm>
            <a:off x="1585575" y="-40175"/>
            <a:ext cx="89748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TECHNICAL APPROACH      Working Demo(</a:t>
            </a:r>
            <a:r>
              <a:rPr lang="en-US" sz="2800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-US" sz="2800"/>
              <a:t>)</a:t>
            </a: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7"/>
          <p:cNvSpPr txBox="1">
            <a:spLocks noGrp="1"/>
          </p:cNvSpPr>
          <p:nvPr>
            <p:ph type="sldNum" idx="12"/>
          </p:nvPr>
        </p:nvSpPr>
        <p:spPr>
          <a:xfrm>
            <a:off x="8737600" y="6526975"/>
            <a:ext cx="32898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>
                <a:solidFill>
                  <a:schemeClr val="lt1"/>
                </a:solidFill>
              </a:rPr>
              <a:t>3</a:t>
            </a:fld>
            <a:endParaRPr sz="1400" b="1">
              <a:solidFill>
                <a:schemeClr val="lt1"/>
              </a:solidFill>
            </a:endParaRPr>
          </a:p>
        </p:txBody>
      </p:sp>
      <p:sp>
        <p:nvSpPr>
          <p:cNvPr id="198" name="Google Shape;198;p27"/>
          <p:cNvSpPr txBox="1">
            <a:spLocks noGrp="1"/>
          </p:cNvSpPr>
          <p:nvPr>
            <p:ph type="ftr" idx="11"/>
          </p:nvPr>
        </p:nvSpPr>
        <p:spPr>
          <a:xfrm>
            <a:off x="3311350" y="7116678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99" name="Google Shape;199;p27" descr="Your startup LOGO"/>
          <p:cNvSpPr/>
          <p:nvPr/>
        </p:nvSpPr>
        <p:spPr>
          <a:xfrm>
            <a:off x="0" y="57100"/>
            <a:ext cx="1412700" cy="5916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HOWLERS</a:t>
            </a:r>
            <a:endParaRPr sz="1100"/>
          </a:p>
        </p:txBody>
      </p:sp>
      <p:pic>
        <p:nvPicPr>
          <p:cNvPr id="200" name="Google Shape;200;p27" descr="https://www.sih.gov.in/img1/SIH-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7700" y="57100"/>
            <a:ext cx="1269700" cy="6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7" title="Untitled diagram _ Mermaid Chart-2025-09-23-0632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713144"/>
            <a:ext cx="2180119" cy="5431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7" title="Untitled diagram _ Mermaid Chart-2025-09-23-06340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84862" y="458263"/>
            <a:ext cx="2002800" cy="5955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7" title="Untitled diagram _ Mermaid Chart-2025-09-23-06343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01388" y="458158"/>
            <a:ext cx="2002800" cy="5955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7" title="Untitled diagram _ Mermaid Chart-2025-09-23-063535.png"/>
          <p:cNvPicPr preferRelativeResize="0"/>
          <p:nvPr/>
        </p:nvPicPr>
        <p:blipFill rotWithShape="1">
          <a:blip r:embed="rId8">
            <a:alphaModFix/>
          </a:blip>
          <a:srcRect t="-2190" b="2190"/>
          <a:stretch/>
        </p:blipFill>
        <p:spPr>
          <a:xfrm>
            <a:off x="7219600" y="565987"/>
            <a:ext cx="2243601" cy="564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7" title="Untitled diagram _ Mermaid Chart-2025-09-23-063618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999425" y="716925"/>
            <a:ext cx="2085999" cy="573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7"/>
          <p:cNvSpPr/>
          <p:nvPr/>
        </p:nvSpPr>
        <p:spPr>
          <a:xfrm>
            <a:off x="2124225" y="1761375"/>
            <a:ext cx="414000" cy="6351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C7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4443100" y="1540250"/>
            <a:ext cx="391200" cy="69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6735525" y="1738700"/>
            <a:ext cx="538500" cy="731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9422950" y="1432525"/>
            <a:ext cx="612300" cy="873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10" name="Google Shape;210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97750" y="1135275"/>
            <a:ext cx="459000" cy="4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53569" y="4017176"/>
            <a:ext cx="902418" cy="508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548825" y="1594275"/>
            <a:ext cx="690201" cy="2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365847" y="1436032"/>
            <a:ext cx="612300" cy="612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735525" y="4629450"/>
            <a:ext cx="538501" cy="53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659675" y="5271773"/>
            <a:ext cx="690199" cy="59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309225" y="4138400"/>
            <a:ext cx="690199" cy="6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9309226" y="5017190"/>
            <a:ext cx="690200" cy="648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7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9203125" y="5770350"/>
            <a:ext cx="961472" cy="2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7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71900" y="1411650"/>
            <a:ext cx="690200" cy="34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7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404225" y="1390836"/>
            <a:ext cx="538500" cy="386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4262849" y="4470663"/>
            <a:ext cx="751707" cy="405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4332556" y="5017207"/>
            <a:ext cx="612300" cy="473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7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4944851" y="6387250"/>
            <a:ext cx="1902848" cy="20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4332550" y="5612113"/>
            <a:ext cx="612301" cy="61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/>
          <p:nvPr/>
        </p:nvSpPr>
        <p:spPr>
          <a:xfrm>
            <a:off x="0" y="6492875"/>
            <a:ext cx="12192000" cy="365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8"/>
          <p:cNvSpPr txBox="1">
            <a:spLocks noGrp="1"/>
          </p:cNvSpPr>
          <p:nvPr>
            <p:ph type="title"/>
          </p:nvPr>
        </p:nvSpPr>
        <p:spPr>
          <a:xfrm>
            <a:off x="1890625" y="-12"/>
            <a:ext cx="759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3400"/>
          </a:p>
        </p:txBody>
      </p:sp>
      <p:sp>
        <p:nvSpPr>
          <p:cNvPr id="232" name="Google Shape;232;p28"/>
          <p:cNvSpPr txBox="1"/>
          <p:nvPr/>
        </p:nvSpPr>
        <p:spPr>
          <a:xfrm>
            <a:off x="515325" y="638900"/>
            <a:ext cx="9385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8"/>
          <p:cNvSpPr txBox="1">
            <a:spLocks noGrp="1"/>
          </p:cNvSpPr>
          <p:nvPr>
            <p:ph type="sldNum" idx="12"/>
          </p:nvPr>
        </p:nvSpPr>
        <p:spPr>
          <a:xfrm>
            <a:off x="9414975" y="6501500"/>
            <a:ext cx="25935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4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4" name="Google Shape;234;p28"/>
          <p:cNvSpPr txBox="1">
            <a:spLocks noGrp="1"/>
          </p:cNvSpPr>
          <p:nvPr>
            <p:ph type="ftr" idx="11"/>
          </p:nvPr>
        </p:nvSpPr>
        <p:spPr>
          <a:xfrm>
            <a:off x="4638125" y="653930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5" name="Google Shape;235;p28" descr="Your startup LOGO"/>
          <p:cNvSpPr/>
          <p:nvPr/>
        </p:nvSpPr>
        <p:spPr>
          <a:xfrm>
            <a:off x="0" y="76850"/>
            <a:ext cx="1326000" cy="618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Howlers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28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5358" y="57825"/>
            <a:ext cx="1453691" cy="7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8"/>
          <p:cNvSpPr txBox="1"/>
          <p:nvPr/>
        </p:nvSpPr>
        <p:spPr>
          <a:xfrm>
            <a:off x="563913" y="699200"/>
            <a:ext cx="59118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>
                <a:solidFill>
                  <a:schemeClr val="dk1"/>
                </a:solidFill>
              </a:rPr>
              <a:t> 	</a:t>
            </a:r>
            <a:r>
              <a:rPr lang="en-US" sz="1900" b="1">
                <a:solidFill>
                  <a:schemeClr val="dk1"/>
                </a:solidFill>
              </a:rPr>
              <a:t>Analysis of the feasibility of the idea</a:t>
            </a:r>
            <a:endParaRPr sz="34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8" name="Google Shape;238;p28"/>
          <p:cNvSpPr txBox="1"/>
          <p:nvPr/>
        </p:nvSpPr>
        <p:spPr>
          <a:xfrm>
            <a:off x="1198363" y="3259700"/>
            <a:ext cx="41316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6865125" y="803475"/>
            <a:ext cx="4937400" cy="3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40" name="Google Shape;240;p28" title="Analysis of the feasibility of the idea - visual selection (3).png"/>
          <p:cNvPicPr preferRelativeResize="0"/>
          <p:nvPr/>
        </p:nvPicPr>
        <p:blipFill rotWithShape="1">
          <a:blip r:embed="rId4">
            <a:alphaModFix/>
          </a:blip>
          <a:srcRect t="46555" r="3493" b="6865"/>
          <a:stretch/>
        </p:blipFill>
        <p:spPr>
          <a:xfrm>
            <a:off x="1044437" y="1106900"/>
            <a:ext cx="5272325" cy="159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8" title="Strategies for overcoming these challenge - visual selection.png"/>
          <p:cNvPicPr preferRelativeResize="0"/>
          <p:nvPr/>
        </p:nvPicPr>
        <p:blipFill rotWithShape="1">
          <a:blip r:embed="rId5">
            <a:alphaModFix/>
          </a:blip>
          <a:srcRect t="13896" b="7102"/>
          <a:stretch/>
        </p:blipFill>
        <p:spPr>
          <a:xfrm>
            <a:off x="6427125" y="1498513"/>
            <a:ext cx="5331800" cy="463471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8"/>
          <p:cNvSpPr txBox="1"/>
          <p:nvPr/>
        </p:nvSpPr>
        <p:spPr>
          <a:xfrm>
            <a:off x="5890725" y="1152975"/>
            <a:ext cx="5911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 	</a:t>
            </a:r>
            <a:r>
              <a:rPr lang="en-US" sz="1900" b="1">
                <a:solidFill>
                  <a:schemeClr val="dk1"/>
                </a:solidFill>
              </a:rPr>
              <a:t>Overcoming Challenges</a:t>
            </a:r>
            <a:endParaRPr sz="34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6383425" y="921325"/>
            <a:ext cx="5585700" cy="5518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44" name="Google Shape;244;p28" title="Screenshot 2025-09-23 12154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225" y="3444275"/>
            <a:ext cx="6107803" cy="29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8"/>
          <p:cNvSpPr txBox="1"/>
          <p:nvPr/>
        </p:nvSpPr>
        <p:spPr>
          <a:xfrm>
            <a:off x="209200" y="2832900"/>
            <a:ext cx="5911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Chat Interface [Streamlit Frontend]</a:t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6" name="Google Shape;246;p28"/>
          <p:cNvSpPr/>
          <p:nvPr/>
        </p:nvSpPr>
        <p:spPr>
          <a:xfrm>
            <a:off x="1097125" y="695150"/>
            <a:ext cx="5286300" cy="21528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 descr="https://www.sih.gov.in/img1/SIH-Logo.png"/>
          <p:cNvSpPr/>
          <p:nvPr/>
        </p:nvSpPr>
        <p:spPr>
          <a:xfrm>
            <a:off x="10360100" y="0"/>
            <a:ext cx="1745190" cy="701794"/>
          </a:xfrm>
          <a:custGeom>
            <a:avLst/>
            <a:gdLst/>
            <a:ahLst/>
            <a:cxnLst/>
            <a:rect l="l" t="t" r="r" b="b"/>
            <a:pathLst>
              <a:path w="4418203" h="2245741" extrusionOk="0">
                <a:moveTo>
                  <a:pt x="0" y="0"/>
                </a:moveTo>
                <a:lnTo>
                  <a:pt x="4418203" y="0"/>
                </a:lnTo>
                <a:lnTo>
                  <a:pt x="4418203" y="2245741"/>
                </a:lnTo>
                <a:lnTo>
                  <a:pt x="0" y="22457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52" name="Google Shape;252;p29"/>
          <p:cNvGrpSpPr/>
          <p:nvPr/>
        </p:nvGrpSpPr>
        <p:grpSpPr>
          <a:xfrm>
            <a:off x="77850" y="39757"/>
            <a:ext cx="1409573" cy="418426"/>
            <a:chOff x="0" y="-57150"/>
            <a:chExt cx="2819146" cy="1722628"/>
          </a:xfrm>
        </p:grpSpPr>
        <p:sp>
          <p:nvSpPr>
            <p:cNvPr id="253" name="Google Shape;253;p29" descr="Your startup LOGO"/>
            <p:cNvSpPr/>
            <p:nvPr/>
          </p:nvSpPr>
          <p:spPr>
            <a:xfrm>
              <a:off x="25400" y="25400"/>
              <a:ext cx="2768346" cy="1614678"/>
            </a:xfrm>
            <a:custGeom>
              <a:avLst/>
              <a:gdLst/>
              <a:ahLst/>
              <a:cxnLst/>
              <a:rect l="l" t="t" r="r" b="b"/>
              <a:pathLst>
                <a:path w="2768346" h="1614678" extrusionOk="0">
                  <a:moveTo>
                    <a:pt x="0" y="807339"/>
                  </a:moveTo>
                  <a:cubicBezTo>
                    <a:pt x="0" y="361442"/>
                    <a:pt x="619760" y="0"/>
                    <a:pt x="1384173" y="0"/>
                  </a:cubicBezTo>
                  <a:cubicBezTo>
                    <a:pt x="2148586" y="0"/>
                    <a:pt x="2768346" y="361442"/>
                    <a:pt x="2768346" y="807339"/>
                  </a:cubicBezTo>
                  <a:cubicBezTo>
                    <a:pt x="2768346" y="1253236"/>
                    <a:pt x="2148586" y="1614678"/>
                    <a:pt x="1384173" y="1614678"/>
                  </a:cubicBezTo>
                  <a:cubicBezTo>
                    <a:pt x="619760" y="1614678"/>
                    <a:pt x="0" y="1253109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9" descr="Your startup LOGO"/>
            <p:cNvSpPr/>
            <p:nvPr/>
          </p:nvSpPr>
          <p:spPr>
            <a:xfrm>
              <a:off x="0" y="0"/>
              <a:ext cx="2819146" cy="1665478"/>
            </a:xfrm>
            <a:custGeom>
              <a:avLst/>
              <a:gdLst/>
              <a:ahLst/>
              <a:cxnLst/>
              <a:rect l="l" t="t" r="r" b="b"/>
              <a:pathLst>
                <a:path w="2819146" h="1665478" extrusionOk="0">
                  <a:moveTo>
                    <a:pt x="0" y="832739"/>
                  </a:moveTo>
                  <a:cubicBezTo>
                    <a:pt x="0" y="362204"/>
                    <a:pt x="644906" y="0"/>
                    <a:pt x="1409573" y="0"/>
                  </a:cubicBezTo>
                  <a:cubicBezTo>
                    <a:pt x="2174240" y="0"/>
                    <a:pt x="2819146" y="362204"/>
                    <a:pt x="2819146" y="832739"/>
                  </a:cubicBezTo>
                  <a:lnTo>
                    <a:pt x="2793746" y="832739"/>
                  </a:lnTo>
                  <a:lnTo>
                    <a:pt x="2819146" y="832739"/>
                  </a:lnTo>
                  <a:cubicBezTo>
                    <a:pt x="2819146" y="1303274"/>
                    <a:pt x="2174240" y="1665478"/>
                    <a:pt x="1409573" y="1665478"/>
                  </a:cubicBezTo>
                  <a:lnTo>
                    <a:pt x="1409573" y="1640078"/>
                  </a:lnTo>
                  <a:lnTo>
                    <a:pt x="1409573" y="1665478"/>
                  </a:lnTo>
                  <a:cubicBezTo>
                    <a:pt x="644906" y="1665351"/>
                    <a:pt x="0" y="1303147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3998"/>
                    <a:pt x="645414" y="1614678"/>
                    <a:pt x="1409573" y="1614678"/>
                  </a:cubicBezTo>
                  <a:cubicBezTo>
                    <a:pt x="2173732" y="1614678"/>
                    <a:pt x="2768346" y="1253998"/>
                    <a:pt x="2768346" y="832739"/>
                  </a:cubicBezTo>
                  <a:cubicBezTo>
                    <a:pt x="2768346" y="411480"/>
                    <a:pt x="2173859" y="50800"/>
                    <a:pt x="1409573" y="50800"/>
                  </a:cubicBezTo>
                  <a:lnTo>
                    <a:pt x="1409573" y="25400"/>
                  </a:lnTo>
                  <a:lnTo>
                    <a:pt x="1409573" y="50800"/>
                  </a:lnTo>
                  <a:cubicBezTo>
                    <a:pt x="645414" y="50800"/>
                    <a:pt x="50800" y="411480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9"/>
            <p:cNvSpPr txBox="1"/>
            <p:nvPr/>
          </p:nvSpPr>
          <p:spPr>
            <a:xfrm>
              <a:off x="0" y="-57150"/>
              <a:ext cx="2819100" cy="17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75" tIns="33875" rIns="33875" bIns="33875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Howlers</a:t>
              </a:r>
              <a:endParaRPr sz="900"/>
            </a:p>
          </p:txBody>
        </p:sp>
      </p:grpSp>
      <p:sp>
        <p:nvSpPr>
          <p:cNvPr id="256" name="Google Shape;256;p29"/>
          <p:cNvSpPr txBox="1"/>
          <p:nvPr/>
        </p:nvSpPr>
        <p:spPr>
          <a:xfrm>
            <a:off x="2794200" y="0"/>
            <a:ext cx="67311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IMPACTS AND BENEFITS</a:t>
            </a:r>
            <a:endParaRPr sz="900"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7" name="Google Shape;257;p29"/>
          <p:cNvSpPr txBox="1"/>
          <p:nvPr/>
        </p:nvSpPr>
        <p:spPr>
          <a:xfrm>
            <a:off x="306875" y="1576575"/>
            <a:ext cx="2631300" cy="8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9"/>
          <p:cNvSpPr/>
          <p:nvPr/>
        </p:nvSpPr>
        <p:spPr>
          <a:xfrm>
            <a:off x="0" y="6692650"/>
            <a:ext cx="12192000" cy="3258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9"/>
          <p:cNvSpPr txBox="1"/>
          <p:nvPr/>
        </p:nvSpPr>
        <p:spPr>
          <a:xfrm>
            <a:off x="11499150" y="6602600"/>
            <a:ext cx="6927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5</a:t>
            </a:r>
            <a:endParaRPr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260" name="Google Shape;260;p29" title="Got it 👍 — here’s just the text extracted from the image (no extra detail)_ - visual selection.png"/>
          <p:cNvPicPr preferRelativeResize="0"/>
          <p:nvPr/>
        </p:nvPicPr>
        <p:blipFill rotWithShape="1">
          <a:blip r:embed="rId4">
            <a:alphaModFix/>
          </a:blip>
          <a:srcRect b="5820"/>
          <a:stretch/>
        </p:blipFill>
        <p:spPr>
          <a:xfrm>
            <a:off x="645100" y="608563"/>
            <a:ext cx="5450898" cy="4587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9"/>
          <p:cNvPicPr preferRelativeResize="0"/>
          <p:nvPr/>
        </p:nvPicPr>
        <p:blipFill rotWithShape="1">
          <a:blip r:embed="rId5">
            <a:alphaModFix/>
          </a:blip>
          <a:srcRect t="5337" b="6300"/>
          <a:stretch/>
        </p:blipFill>
        <p:spPr>
          <a:xfrm>
            <a:off x="6096000" y="1096350"/>
            <a:ext cx="5450900" cy="402382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9"/>
          <p:cNvSpPr/>
          <p:nvPr/>
        </p:nvSpPr>
        <p:spPr>
          <a:xfrm>
            <a:off x="743775" y="840275"/>
            <a:ext cx="5255400" cy="43866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6193750" y="840275"/>
            <a:ext cx="5255400" cy="43866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29"/>
          <p:cNvPicPr preferRelativeResize="0"/>
          <p:nvPr/>
        </p:nvPicPr>
        <p:blipFill rotWithShape="1">
          <a:blip r:embed="rId6">
            <a:alphaModFix/>
          </a:blip>
          <a:srcRect l="1220" r="-1219"/>
          <a:stretch/>
        </p:blipFill>
        <p:spPr>
          <a:xfrm>
            <a:off x="3785325" y="5374225"/>
            <a:ext cx="4621350" cy="131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9"/>
          <p:cNvSpPr/>
          <p:nvPr/>
        </p:nvSpPr>
        <p:spPr>
          <a:xfrm>
            <a:off x="3785400" y="5374225"/>
            <a:ext cx="4621200" cy="13185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37275" y="5310675"/>
            <a:ext cx="2631275" cy="13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21900" y="5300512"/>
            <a:ext cx="2006938" cy="131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"/>
          <p:cNvSpPr/>
          <p:nvPr/>
        </p:nvSpPr>
        <p:spPr>
          <a:xfrm>
            <a:off x="-141525" y="6514475"/>
            <a:ext cx="12423300" cy="3435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275" name="Google Shape;275;p30"/>
          <p:cNvSpPr txBox="1"/>
          <p:nvPr/>
        </p:nvSpPr>
        <p:spPr>
          <a:xfrm>
            <a:off x="933850" y="1054837"/>
            <a:ext cx="9385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0"/>
          <p:cNvSpPr txBox="1">
            <a:spLocks noGrp="1"/>
          </p:cNvSpPr>
          <p:nvPr>
            <p:ph type="sldNum" idx="12"/>
          </p:nvPr>
        </p:nvSpPr>
        <p:spPr>
          <a:xfrm>
            <a:off x="8737575" y="6438025"/>
            <a:ext cx="31011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4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77" name="Google Shape;277;p30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78" name="Google Shape;278;p30" descr="Your startup LOGO"/>
          <p:cNvSpPr/>
          <p:nvPr/>
        </p:nvSpPr>
        <p:spPr>
          <a:xfrm>
            <a:off x="329775" y="252250"/>
            <a:ext cx="1412400" cy="6300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Howlers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30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0"/>
          <p:cNvSpPr txBox="1"/>
          <p:nvPr/>
        </p:nvSpPr>
        <p:spPr>
          <a:xfrm>
            <a:off x="216175" y="1658425"/>
            <a:ext cx="113661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</a:rPr>
              <a:t>PS Approach Explainer. YouTube video. Available at:</a:t>
            </a:r>
            <a:r>
              <a:rPr lang="en-US" sz="1300" b="1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300" b="1" u="sng">
                <a:solidFill>
                  <a:schemeClr val="hlink"/>
                </a:solidFill>
                <a:hlinkClick r:id="rId4"/>
              </a:rPr>
              <a:t>https://youtu.be/-iJX43oWRXY</a:t>
            </a:r>
            <a:br>
              <a:rPr lang="en-US" sz="1300" b="1" u="sng">
                <a:solidFill>
                  <a:schemeClr val="hlink"/>
                </a:solidFill>
                <a:hlinkClick r:id="rId4"/>
              </a:rPr>
            </a:br>
            <a:endParaRPr sz="1300" b="1" u="sng">
              <a:solidFill>
                <a:schemeClr val="hlink"/>
              </a:solidFill>
            </a:endParaRPr>
          </a:p>
          <a:p>
            <a:pPr marL="9144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</a:rPr>
              <a:t>POC of FloatChat AI (Demo). YouTube video. Available at:</a:t>
            </a:r>
            <a:r>
              <a:rPr lang="en-US" sz="1300" b="1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300" b="1" u="sng">
                <a:solidFill>
                  <a:schemeClr val="hlink"/>
                </a:solidFill>
                <a:hlinkClick r:id="rId5"/>
              </a:rPr>
              <a:t>https://youtu.be/_Ln-5-LXG-w</a:t>
            </a:r>
            <a:br>
              <a:rPr lang="en-US" sz="1300" b="1" u="sng">
                <a:solidFill>
                  <a:schemeClr val="hlink"/>
                </a:solidFill>
                <a:hlinkClick r:id="rId5"/>
              </a:rPr>
            </a:br>
            <a:endParaRPr sz="1300" b="1" u="sng">
              <a:solidFill>
                <a:schemeClr val="hlink"/>
              </a:solidFill>
            </a:endParaRPr>
          </a:p>
          <a:p>
            <a:pPr marL="9144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</a:rPr>
              <a:t>FloatChat AI Documentation. Google Drive folder. Available at:</a:t>
            </a:r>
            <a:r>
              <a:rPr lang="en-US" sz="1300" b="1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300" b="1" u="sng">
                <a:solidFill>
                  <a:schemeClr val="hlink"/>
                </a:solidFill>
                <a:hlinkClick r:id="rId6"/>
              </a:rPr>
              <a:t>https://drive.google.com/drive/folders/1wPG_MvJKRtRW4MLE1Y2JtUj7BjoNSrZ8?usp=drive_link</a:t>
            </a:r>
            <a:br>
              <a:rPr lang="en-US" sz="1300" b="1" u="sng">
                <a:solidFill>
                  <a:schemeClr val="hlink"/>
                </a:solidFill>
                <a:hlinkClick r:id="rId6"/>
              </a:rPr>
            </a:b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4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ARGO Program (Global Ocean Observing System):</a:t>
            </a:r>
            <a:r>
              <a:rPr lang="en-US" sz="14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4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https://argo.ucsd.edu</a:t>
            </a:r>
            <a:endParaRPr sz="14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Coriolis Global Data Assembly Center (GDAC):</a:t>
            </a:r>
            <a:r>
              <a:rPr lang="en-US" sz="14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4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https://www.coriolis.eu.org/</a:t>
            </a:r>
            <a:r>
              <a:rPr lang="en-US" sz="14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Provider of global ARGO NetCDF files and metadata.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44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Tools, Libraries, and Frameworks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Handling:</a:t>
            </a:r>
            <a:r>
              <a:rPr lang="en-US" sz="14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xarray </a:t>
            </a:r>
            <a:r>
              <a:rPr lang="en-US" sz="144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https://docs.xarray.dev</a:t>
            </a:r>
            <a:r>
              <a:rPr lang="en-US" sz="14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pandas https://pandas.pydata.org, netCDF4.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Databases:</a:t>
            </a:r>
            <a:r>
              <a:rPr lang="en-US" sz="14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SQLite3 </a:t>
            </a:r>
            <a:r>
              <a:rPr lang="en-US" sz="144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https://www.sqlite.org/docs.html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 Databases:</a:t>
            </a:r>
            <a:r>
              <a:rPr lang="en-US" sz="14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FAISS </a:t>
            </a:r>
            <a:r>
              <a:rPr lang="en-US" sz="144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https://faiss.ai</a:t>
            </a:r>
            <a:r>
              <a:rPr lang="en-US" sz="14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Chroma </a:t>
            </a:r>
            <a:r>
              <a:rPr lang="en-US" sz="144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https://www.trychroma.com</a:t>
            </a:r>
            <a:r>
              <a:rPr lang="en-US" sz="14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Pipelines:</a:t>
            </a:r>
            <a:r>
              <a:rPr lang="en-US" sz="14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LangChain </a:t>
            </a:r>
            <a:r>
              <a:rPr lang="en-US" sz="144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https://www.langchain.com</a:t>
            </a:r>
            <a:r>
              <a:rPr lang="en-US" sz="14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Ollama </a:t>
            </a:r>
            <a:r>
              <a:rPr lang="en-US" sz="144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https://ollama.ai</a:t>
            </a:r>
            <a:r>
              <a:rPr lang="en-US" sz="14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Visualization &amp; Dashboards:</a:t>
            </a:r>
            <a:r>
              <a:rPr lang="en-US" sz="14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Streamlit </a:t>
            </a:r>
            <a:r>
              <a:rPr lang="en-US" sz="144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https://streamlit.io</a:t>
            </a:r>
            <a:r>
              <a:rPr lang="en-US" sz="14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Plotly Dash </a:t>
            </a:r>
            <a:r>
              <a:rPr lang="en-US" sz="144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https://dash.plotly.com</a:t>
            </a:r>
            <a:r>
              <a:rPr lang="en-US" sz="14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Leaflet.</a:t>
            </a:r>
            <a:endParaRPr sz="1600">
              <a:solidFill>
                <a:schemeClr val="dk1"/>
              </a:solidFill>
            </a:endParaRPr>
          </a:p>
          <a:p>
            <a:pPr marL="28575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3810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8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81" name="Google Shape;281;p30"/>
          <p:cNvPicPr preferRelativeResize="0"/>
          <p:nvPr/>
        </p:nvPicPr>
        <p:blipFill rotWithShape="1">
          <a:blip r:embed="rId17">
            <a:alphaModFix/>
          </a:blip>
          <a:srcRect r="-6496"/>
          <a:stretch/>
        </p:blipFill>
        <p:spPr>
          <a:xfrm>
            <a:off x="9168975" y="1270875"/>
            <a:ext cx="2782500" cy="27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</Words>
  <Application>Microsoft Office PowerPoint</Application>
  <PresentationFormat>Widescreen</PresentationFormat>
  <Paragraphs>60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Oswald Medium</vt:lpstr>
      <vt:lpstr>Arial</vt:lpstr>
      <vt:lpstr>Garamond</vt:lpstr>
      <vt:lpstr>Calibri</vt:lpstr>
      <vt:lpstr>Times New Roman</vt:lpstr>
      <vt:lpstr>Noto Sans Symbols</vt:lpstr>
      <vt:lpstr>Times</vt:lpstr>
      <vt:lpstr>Oswald</vt:lpstr>
      <vt:lpstr>Office Theme</vt:lpstr>
      <vt:lpstr>Office Theme</vt:lpstr>
      <vt:lpstr>SMART INDIA HACKATHON 2025</vt:lpstr>
      <vt:lpstr>      FloatChat — Conversational Argo Data Explorer Natural-language queries + verifiable visualizations for Argo floats </vt:lpstr>
      <vt:lpstr>TECHNICAL APPROACH      Working Demo(link) </vt:lpstr>
      <vt:lpstr>FEASIBILITY AND VIABILITY</vt:lpstr>
      <vt:lpstr>PowerPoint Presentation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yash oza</cp:lastModifiedBy>
  <cp:revision>1</cp:revision>
  <dcterms:modified xsi:type="dcterms:W3CDTF">2026-09-08T16:37:59Z</dcterms:modified>
</cp:coreProperties>
</file>
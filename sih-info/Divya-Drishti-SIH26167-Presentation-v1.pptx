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  <a:defRPr sz="1600" b="1"/>
            </a:pPr>
            <a:r>
              <a:t>Problem Statement ID: 26167</a:t>
            </a:r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300"/>
              </a:spcAft>
              <a:defRPr sz="1300" b="1"/>
            </a:pPr>
            <a:r>
              <a:t>Problem Statement Title: SatQuery AI - An Interactive Vision-Language Assistant for Multimodal Remote Sensing Image Analysis through Text Queries</a:t>
            </a:r>
          </a:p>
          <a:p>
            <a:pPr>
              <a:spcAft>
                <a:spcPts val="300"/>
              </a:spcAft>
              <a:defRPr sz="1300" b="1"/>
            </a:pPr>
            <a:r>
              <a:t>Theme: Space Technology   |   Category: Software</a:t>
            </a:r>
          </a:p>
          <a:p>
            <a:pPr>
              <a:spcAft>
                <a:spcPts val="500"/>
              </a:spcAft>
              <a:defRPr sz="1600" b="1">
                <a:solidFill>
                  <a:srgbClr val="0066CC"/>
                </a:solidFill>
              </a:defRPr>
            </a:pPr>
            <a:r>
              <a:t>Team Name: Divya Drishti (दिव्य दृष्टि)</a:t>
            </a:r>
          </a:p>
          <a:p>
            <a:pPr>
              <a:spcAft>
                <a:spcPts val="200"/>
              </a:spcAft>
              <a:defRPr sz="1300" b="1"/>
            </a:pPr>
            <a:r>
              <a:t>Team Leader: Tanmay Shah (Enrollment No: 230020107079)</a:t>
            </a:r>
          </a:p>
          <a:p>
            <a:pPr>
              <a:spcAft>
                <a:spcPts val="400"/>
              </a:spcAft>
              <a:defRPr sz="1100"/>
            </a:pPr>
            <a:r>
              <a:t>Team Members: Vadodaria Dhrumil (230020107088), Karan Vaghela (230020107090), Pushti Doshi (240023107030), Kunj Vachharajani (230020107087), Krish Shah (230020107077)</a:t>
            </a:r>
          </a:p>
          <a:p>
            <a:pPr>
              <a:defRPr sz="1200" b="1"/>
            </a:pPr>
            <a:r>
              <a:t>Institute: L.D. College of Engineering, Ahmedabad, Gujarat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defRPr b="1" sz="2200"/>
            </a:pPr>
            <a:r>
              <a:t>IDEA TITLE: SatQuery AI — Agentic Multimodal Remote Sensing Studio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Aft>
                <a:spcPts val="200"/>
              </a:spcAft>
              <a:buFont typeface="Wingdings" panose="05000000000000000000" pitchFamily="2" charset="2"/>
              <a:buChar char="v"/>
              <a:defRPr sz="1400" b="1">
                <a:solidFill>
                  <a:srgbClr val="003366"/>
                </a:solidFill>
              </a:defRPr>
            </a:pPr>
            <a:r>
              <a:t>1. Problem Addressed: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  <a:p>
            <a:pPr>
              <a:defRPr sz="1100"/>
            </a:pPr>
            <a:r>
              <a:t>• Non-expert users cannot query multi-sensor Earth Observation imagery (optical + SAR) using plain language.</a:t>
            </a:r>
          </a:p>
          <a:p>
            <a:pPr>
              <a:spcAft>
                <a:spcPts val="400"/>
              </a:spcAft>
              <a:defRPr sz="1100"/>
            </a:pPr>
            <a:r>
              <a:t>• Generic LLMs/VLMs fail: they lack remote-sensing spectral awareness, hallucinate spatial coordinates, and cannot co-register SAR radar backscatter.</a:t>
            </a:r>
          </a:p>
          <a:p>
            <a:pPr>
              <a:spcAft>
                <a:spcPts val="200"/>
              </a:spcAft>
              <a:defRPr sz="1400" b="1">
                <a:solidFill>
                  <a:srgbClr val="003366"/>
                </a:solidFill>
              </a:defRPr>
            </a:pPr>
            <a:r>
              <a:t>2. Proposed Solution (SatQuery AI):</a:t>
            </a:r>
          </a:p>
          <a:p>
            <a:pPr>
              <a:defRPr sz="1100"/>
            </a:pPr>
            <a:r>
              <a:t>• Production-Grade Geospatial AI Studio: Ingests native GeoTIFFs (single-image, bi-temporal pairs t1 vs t2, and cross-modal Optical+SAR pairs).</a:t>
            </a:r>
          </a:p>
          <a:p>
            <a:pPr>
              <a:spcAft>
                <a:spcPts val="400"/>
              </a:spcAft>
              <a:defRPr sz="1100"/>
            </a:pPr>
            <a:r>
              <a:t>• Agentic Controller &amp; Specialist Registry: Decomposes natural language queries and dynamically routes tasks to specialized computer vision models.</a:t>
            </a:r>
          </a:p>
          <a:p>
            <a:pPr>
              <a:spcAft>
                <a:spcPts val="200"/>
              </a:spcAft>
              <a:defRPr sz="1400" b="1">
                <a:solidFill>
                  <a:srgbClr val="003366"/>
                </a:solidFill>
              </a:defRPr>
            </a:pPr>
            <a:r>
              <a:t>3. Innovation and Uniqueness:</a:t>
            </a:r>
          </a:p>
          <a:p>
            <a:pPr>
              <a:defRPr sz="1100"/>
            </a:pPr>
            <a:r>
              <a:t>• Anti-AI Wrapper Workbench: Hardware-accelerated WebGL canvas (MapLibre GL) with split-screen draggable swipe curtain (t1 vs t2).</a:t>
            </a:r>
          </a:p>
          <a:p>
            <a:pPr>
              <a:defRPr sz="1100"/>
            </a:pPr>
            <a:r>
              <a:t>• Auditable Execution Trace: Real-time telemetry displaying selected model, tensor parameters, latency, and confidence scores (zero black-box hallucination).</a:t>
            </a:r>
          </a:p>
          <a:p>
            <a:pPr>
              <a:defRPr sz="1100"/>
            </a:pPr>
            <a:r>
              <a:t>• Cloud-Piercing Optical + SAR Fusion: Combines Sentinel-2 optical spectral data with Sentinel-1 SAR microwave radar for 24/7 all-weather surveillance.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b="1" sz="1200"/>
            </a:pPr>
            <a:r>
              <a:t>Divya Drishti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200"/>
            </a:pPr>
            <a:r>
              <a:t>TECHNICAL APPROACH &amp; SYSTEM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200"/>
              </a:spcAft>
              <a:buFont typeface="Arial" panose="020B0604020202020204" pitchFamily="34" charset="0"/>
              <a:buChar char="•"/>
              <a:defRPr sz="1300" b="1">
                <a:solidFill>
                  <a:srgbClr val="003366"/>
                </a:solidFill>
              </a:defRPr>
            </a:pPr>
            <a:r>
              <a:t>1. Four Specialist AI Engines (Pre-Trained &amp; Domain Adapted):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  <a:p>
            <a:pPr>
              <a:defRPr sz="1100"/>
            </a:pPr>
            <a:r>
              <a:t>• Single-Image VQA Engine: RemoteCLIP (ViT-B/32) adapted on BigEarthNet.txt &amp; RSVQA for land-use and facility analysis.</a:t>
            </a:r>
          </a:p>
          <a:p>
            <a:pPr>
              <a:defRPr sz="1100"/>
            </a:pPr>
            <a:r>
              <a:t>• Text-Guided Region Grounder: MobileSAM prompted by RemoteCLIP text embeddings for &lt;50ms instance segmentation.</a:t>
            </a:r>
          </a:p>
          <a:p>
            <a:pPr>
              <a:defRPr sz="1100"/>
            </a:pPr>
            <a:r>
              <a:t>• Bi-Temporal Change Detector: ChangeFormer-v2 hierarchical Siamese transformer extracting structural differences between t1 and t2.</a:t>
            </a:r>
          </a:p>
          <a:p>
            <a:pPr>
              <a:spcAft>
                <a:spcPts val="400"/>
              </a:spcAft>
              <a:defRPr sz="1100"/>
            </a:pPr>
            <a:r>
              <a:t>• Cross-Modal SAR + Optical Fusion: Dual-branch cross-attention fusing Sentinel-2 (RGB/NIR) with Sentinel-1 SAR (VV/VH backscatter).</a:t>
            </a:r>
          </a:p>
          <a:p>
            <a:pPr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2. Pipeline &amp; Workflow:</a:t>
            </a:r>
          </a:p>
          <a:p>
            <a:pPr>
              <a:spcAft>
                <a:spcPts val="400"/>
              </a:spcAft>
              <a:defRPr sz="1100"/>
            </a:pPr>
            <a:r>
              <a:t>• [User Query + AOI Selection] → [FastAPI Intent Parser &amp; Validator] → [Specialist Model Registry DAG] → [GeoJSON Vector Mask &amp; Heatmap Generation] → [WebGL MapLibre GL Layer Display] → [Downloadable Intelligence Report (PDF/GeoJSON)].</a:t>
            </a:r>
          </a:p>
          <a:p>
            <a:pPr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3. Technology Stack:</a:t>
            </a:r>
          </a:p>
          <a:p>
            <a:pPr>
              <a:defRPr sz="1100"/>
            </a:pPr>
            <a:r>
              <a:t>• Frontend: Next.js 15, Tailwind CSS, MapLibre GL JS, maplibre-gl-compare (swipe slider), Zustand.</a:t>
            </a:r>
          </a:p>
          <a:p>
            <a:pPr>
              <a:defRPr sz="1100"/>
            </a:pPr>
            <a:r>
              <a:t>• Backend &amp; GIS: Python 3.12, FastAPI, rasterio, GDAL, pyproj, shapely, geopandas, ONNX Runtime (CPU/MPS acceleration).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b="1" sz="1200"/>
            </a:pPr>
            <a:r>
              <a:t>Divya Drishti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200"/>
            </a:pPr>
            <a:r>
              <a:t>FEASIBILITY AND VIABILITY ANALYSIS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 sz="1300" b="1">
                <a:solidFill>
                  <a:srgbClr val="003366"/>
                </a:solidFill>
              </a:defRPr>
            </a:pPr>
            <a:r>
              <a:t>1. Technical Feasibility: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defRPr sz="1100"/>
            </a:pPr>
            <a:r>
              <a:t>• Open Foundation Models: Built on proven RemoteCLIP, MobileSAM, and ChangeFormer backbones, avoiding costly pretraining from scratch.</a:t>
            </a:r>
          </a:p>
          <a:p>
            <a:pPr>
              <a:defRPr sz="1100"/>
            </a:pPr>
            <a:r>
              <a:t>• Edge &amp; Laptop Optimization: 4-bit quantization and ONNX/MPS acceleration enable sub-100ms inference on standard college/workstation hardware.</a:t>
            </a:r>
          </a:p>
          <a:p>
            <a:pPr>
              <a:spcAft>
                <a:spcPts val="400"/>
              </a:spcAft>
              <a:defRPr sz="1100"/>
            </a:pPr>
            <a:r>
              <a:t>• Native Geospatial Handling: Windowed rasterio block reads stream large gigabyte-scale GeoTIFFs without memory overflow.</a:t>
            </a:r>
          </a:p>
          <a:p>
            <a:pPr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2. Operational Viability &amp; Zero Cost Barrier:</a:t>
            </a:r>
          </a:p>
          <a:p>
            <a:pPr>
              <a:defRPr sz="1100"/>
            </a:pPr>
            <a:r>
              <a:t>• $0 Ongoing API Cost: Runs fully self-contained on local/cloud servers without dependency on paid proprietary LLM tokens.</a:t>
            </a:r>
          </a:p>
          <a:p>
            <a:pPr>
              <a:spcAft>
                <a:spcPts val="400"/>
              </a:spcAft>
              <a:defRPr sz="1100"/>
            </a:pPr>
            <a:r>
              <a:t>• Offline Hackathon Mode: Pre-cached benchmark scenes (GIFT City, Assam Floods, Mumbai Port) run with 0s latency even if venue Wi-Fi drops.</a:t>
            </a:r>
          </a:p>
          <a:p>
            <a:pPr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3. Potential Risks &amp; Mitigation Strategies:</a:t>
            </a:r>
          </a:p>
          <a:p>
            <a:pPr>
              <a:defRPr sz="1100"/>
            </a:pPr>
            <a:r>
              <a:t>• Risk 1 (Monsoon Cloud Cover): Mitigated via Sentinel-1 SAR radar channel which penetrates clouds completely.</a:t>
            </a:r>
          </a:p>
          <a:p>
            <a:pPr>
              <a:defRPr sz="1100"/>
            </a:pPr>
            <a:r>
              <a:t>• Risk 2 (Optical/SAR Misalignment): Mitigated via automated phase-correlation sub-pixel co-registration verification before inference.</a:t>
            </a:r>
          </a:p>
          <a:p>
            <a:pPr>
              <a:defRPr sz="1100"/>
            </a:pPr>
            <a:r>
              <a:t>• Risk 3 (AI Hallucination): Mitigated by mandatory confidence calibration and auditable execution trace logging.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b="1" sz="1200"/>
            </a:pPr>
            <a:r>
              <a:t>Divya Drishti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200"/>
            </a:pPr>
            <a: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 sz="1300" b="1">
                <a:solidFill>
                  <a:srgbClr val="003366"/>
                </a:solidFill>
              </a:defRPr>
            </a:pPr>
            <a:r>
              <a:t>1. Target Beneficiaries: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  <a:p>
            <a:pPr>
              <a:defRPr sz="1100"/>
            </a:pPr>
            <a:r>
              <a:t>• ISRO / Space Applications Centre: Direct interactive exploitation of Cartosat and RISAT sovereign satellite feeds without manual GIS scripting.</a:t>
            </a:r>
          </a:p>
          <a:p>
            <a:pPr>
              <a:defRPr sz="1100"/>
            </a:pPr>
            <a:r>
              <a:t>• Disaster Response Agencies (NDRF / SDMA): Instant flood inundation and infrastructure damage assessment during active cyclones.</a:t>
            </a:r>
          </a:p>
          <a:p>
            <a:pPr>
              <a:spcAft>
                <a:spcPts val="400"/>
              </a:spcAft>
              <a:defRPr sz="1100"/>
            </a:pPr>
            <a:r>
              <a:t>• Urban Planning &amp; Forestry: Automated detection of illegal construction, urban sprawl, and deforestation across Indian states.</a:t>
            </a:r>
          </a:p>
          <a:p>
            <a:pPr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2. Measurable Quantitative Benefits:</a:t>
            </a:r>
          </a:p>
          <a:p>
            <a:pPr>
              <a:defRPr sz="1100"/>
            </a:pPr>
            <a:r>
              <a:t>• 90% Faster Query Turnaround: Reduces multi-hour GIS analyst query cycles to under 5 seconds through conversational vision routing.</a:t>
            </a:r>
          </a:p>
          <a:p>
            <a:pPr>
              <a:defRPr sz="1100"/>
            </a:pPr>
            <a:r>
              <a:t>• 100% All-Weather Coverage: Eliminates cloud-induced data blackouts by fusing SAR radar backscatter with optical imagery.</a:t>
            </a:r>
          </a:p>
          <a:p>
            <a:pPr>
              <a:spcAft>
                <a:spcPts val="400"/>
              </a:spcAft>
              <a:defRPr sz="1100"/>
            </a:pPr>
            <a:r>
              <a:t>• Evidence-Grounded Accountability: Zero black-box hallucinations—every finding delivers exact pixel masks and GeoJSON coordinates.</a:t>
            </a:r>
          </a:p>
          <a:p>
            <a:pPr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3. National Strategic Alignment:</a:t>
            </a:r>
          </a:p>
          <a:p>
            <a:pPr>
              <a:defRPr sz="1100"/>
            </a:pPr>
            <a:r>
              <a:t>• Supports IN-SPACe initiatives and national geospatial deregulation by making satellite intelligence accessible to non-GIS decision makers.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b="1" sz="1200"/>
            </a:pPr>
            <a:r>
              <a:t>Divya Drishti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200"/>
            </a:pPr>
            <a: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 sz="1300" b="1">
                <a:solidFill>
                  <a:srgbClr val="003366"/>
                </a:solidFill>
              </a:defRPr>
            </a:pPr>
            <a:r>
              <a:t>1. Prescribed Benchmark Datasets &amp; Pretraining Corpus: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defRPr sz="1100"/>
            </a:pPr>
            <a:r>
              <a:t>• BigEarthNet.txt (arXiv:2603.29630): 590k co-registered Sentinel-1 SAR and Sentinel-2 optical pairs for domain adaptation.</a:t>
            </a:r>
          </a:p>
          <a:p>
            <a:pPr>
              <a:defRPr sz="1100"/>
            </a:pPr>
            <a:r>
              <a:t>• VRSBench (Yang et al., 2024): High-resolution remote-sensing visual question answering and text-guided visual grounding.</a:t>
            </a:r>
          </a:p>
          <a:p>
            <a:pPr>
              <a:defRPr sz="1100"/>
            </a:pPr>
            <a:r>
              <a:t>• RSVQA (Lobry et al., IEEE TGRS 2020): Benchmark optical VQA dataset covering HR and LR satellite splits.</a:t>
            </a:r>
          </a:p>
          <a:p>
            <a:pPr>
              <a:defRPr sz="1100"/>
            </a:pPr>
            <a:r>
              <a:t>• CDVQA (Yuan et al., 2023): Multitemporal change-based remote-sensing visual question answering.</a:t>
            </a:r>
          </a:p>
          <a:p>
            <a:pPr>
              <a:spcAft>
                <a:spcPts val="400"/>
              </a:spcAft>
              <a:defRPr sz="1100"/>
            </a:pPr>
            <a:r>
              <a:t>• ISRO / SAC Evaluation Set: Cartosat-2S optical + RISAT-1A SAR evaluation pairs.</a:t>
            </a:r>
          </a:p>
          <a:p>
            <a:pPr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2. Key Foundational Research Papers:</a:t>
            </a:r>
          </a:p>
          <a:p>
            <a:pPr>
              <a:defRPr sz="1100"/>
            </a:pPr>
            <a:r>
              <a:t>• RemoteCLIP: A Vision-Language Foundation Model for Remote Sensing (Liu et al., IEEE TGRS 2024).</a:t>
            </a:r>
          </a:p>
          <a:p>
            <a:pPr>
              <a:defRPr sz="1100"/>
            </a:pPr>
            <a:r>
              <a:t>• ChangeFormer: A Transformer-Based Architecture for Remote Sensing Change Detection (Bandara et al., IEEE JSTARS 2022).</a:t>
            </a:r>
          </a:p>
          <a:p>
            <a:pPr>
              <a:spcAft>
                <a:spcPts val="400"/>
              </a:spcAft>
              <a:defRPr sz="1100"/>
            </a:pPr>
            <a:r>
              <a:t>• MobileSAM: Faster Segment Anything with Lightweight Architecture (Zhang et al., 2023).</a:t>
            </a:r>
          </a:p>
          <a:p>
            <a:pPr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3. Satellite Sensor Platforms:</a:t>
            </a:r>
          </a:p>
          <a:p>
            <a:pPr>
              <a:defRPr sz="1100"/>
            </a:pPr>
            <a:r>
              <a:t>• ESA Copernicus Sentinel-1 (C-SAR) &amp; Sentinel-2 (MSI); ISRO Cartosat-2S/3 &amp; RISAT-1A (EOS-04); USGS Landsat-8/9.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b="1" sz="1200"/>
            </a:pPr>
            <a:r>
              <a:t>Divya Drishti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